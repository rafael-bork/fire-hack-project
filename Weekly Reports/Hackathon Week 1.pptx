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7" r:id="rId2"/>
    <p:sldId id="259" r:id="rId3"/>
    <p:sldId id="261" r:id="rId4"/>
    <p:sldId id="263"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E4F9"/>
    <a:srgbClr val="83BBE1"/>
    <a:srgbClr val="96DC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91C8B4-B026-4612-ACB2-4D3E843ABB50}" type="datetimeFigureOut">
              <a:rPr lang="en-GB" smtClean="0"/>
              <a:t>30/09/2025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93076A-9FA6-4646-8880-354E28162066}" type="slidenum">
              <a:rPr lang="en-GB" smtClean="0"/>
              <a:t>‹#›</a:t>
            </a:fld>
            <a:endParaRPr lang="en-GB"/>
          </a:p>
        </p:txBody>
      </p:sp>
    </p:spTree>
    <p:extLst>
      <p:ext uri="{BB962C8B-B14F-4D97-AF65-F5344CB8AC3E}">
        <p14:creationId xmlns:p14="http://schemas.microsoft.com/office/powerpoint/2010/main" val="2803094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5CF5-DE89-7845-1624-613B592D0D3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4F85DF1C-76C5-26ED-9035-E38EBA64A3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13B6E384-215A-5996-9C17-32D408CA445A}"/>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5" name="Footer Placeholder 4">
            <a:extLst>
              <a:ext uri="{FF2B5EF4-FFF2-40B4-BE49-F238E27FC236}">
                <a16:creationId xmlns:a16="http://schemas.microsoft.com/office/drawing/2014/main" id="{60C78BD1-A94E-6CEA-3C91-867C093790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9513D83-FABE-1113-EA85-4A9B7EDE0382}"/>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3039674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8AF92-C0E4-D49D-74E1-DBA35178F62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5FA7422-6C58-FF15-82DF-FAD898F94B6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DF08600-2812-1681-9130-62D7AFD5542F}"/>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5" name="Footer Placeholder 4">
            <a:extLst>
              <a:ext uri="{FF2B5EF4-FFF2-40B4-BE49-F238E27FC236}">
                <a16:creationId xmlns:a16="http://schemas.microsoft.com/office/drawing/2014/main" id="{12B81673-A20B-4B9C-AA8A-8788B325E15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29FD21F-E122-B541-9CE5-5DBB1AADAC9B}"/>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3761524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38033-AF69-A2A8-A120-5D64294B793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19BFE9D7-86EA-97E8-5386-26946B2C21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74A8ABF-096E-6BB7-0132-C8AFE974F4B6}"/>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5" name="Footer Placeholder 4">
            <a:extLst>
              <a:ext uri="{FF2B5EF4-FFF2-40B4-BE49-F238E27FC236}">
                <a16:creationId xmlns:a16="http://schemas.microsoft.com/office/drawing/2014/main" id="{78CDC8FC-D7B9-1CF6-0B71-4592DC0056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198E99-72D2-B66D-02A8-2826C1B1EFE1}"/>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3069463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C0C3-0710-E948-510C-8FC48CF04A1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9D06A2F-4A46-7213-1A28-1011F56A775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42865665-16E6-01E5-7198-73D9DF9EB3D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D20EAD62-1780-63A3-7663-6DC55686E4C9}"/>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6" name="Footer Placeholder 5">
            <a:extLst>
              <a:ext uri="{FF2B5EF4-FFF2-40B4-BE49-F238E27FC236}">
                <a16:creationId xmlns:a16="http://schemas.microsoft.com/office/drawing/2014/main" id="{C27BD380-3F48-7E5B-986C-922F69C066A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A89E64-6BEF-40D3-2573-BCE3E27CD878}"/>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3162656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0637-C3C7-D9EF-32A9-82576481A63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1AE558-651B-EBA3-A705-6405F81CFB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DD3A840-141B-7861-0658-2DBE0F6AD7B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8CE46318-33F9-698C-DCD0-146680DA26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EDA1134-A681-27E7-C498-506EC7F8CBA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FE51A4E-8C1E-8F6B-F266-1F4AA1185ED9}"/>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8" name="Footer Placeholder 7">
            <a:extLst>
              <a:ext uri="{FF2B5EF4-FFF2-40B4-BE49-F238E27FC236}">
                <a16:creationId xmlns:a16="http://schemas.microsoft.com/office/drawing/2014/main" id="{6F1164A2-EB76-07C7-F7D7-0596CEECF96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8F81AF9-C7E8-552E-F478-F05F10DC11AF}"/>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609134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FB42F-0478-C609-91F9-D038BDD8FBD9}"/>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CC8A919B-B981-6988-6A29-6373A5A6D316}"/>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4" name="Footer Placeholder 3">
            <a:extLst>
              <a:ext uri="{FF2B5EF4-FFF2-40B4-BE49-F238E27FC236}">
                <a16:creationId xmlns:a16="http://schemas.microsoft.com/office/drawing/2014/main" id="{A8A67DC4-FB71-05CC-F9F0-E5401482E0C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E016398-63D3-2476-9A74-AA584A78B652}"/>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834558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6BB1D3-2C7D-B59A-65F2-F973E0B113CA}"/>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3" name="Footer Placeholder 2">
            <a:extLst>
              <a:ext uri="{FF2B5EF4-FFF2-40B4-BE49-F238E27FC236}">
                <a16:creationId xmlns:a16="http://schemas.microsoft.com/office/drawing/2014/main" id="{3F36BC4E-443D-8B60-F288-8E04190CF13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374EE62-AAF8-1FE2-5108-E97BDD9E1CE6}"/>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2355229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F6790-22F9-6C60-B763-1AFDDD5D9A7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D216B23A-C4FE-6631-03E7-0DD64F5B2F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A962BED3-13B9-B4D2-6029-4BDD1E941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799E182-DEF7-F529-D15B-B98D15C05300}"/>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6" name="Footer Placeholder 5">
            <a:extLst>
              <a:ext uri="{FF2B5EF4-FFF2-40B4-BE49-F238E27FC236}">
                <a16:creationId xmlns:a16="http://schemas.microsoft.com/office/drawing/2014/main" id="{C2D62B83-5B5D-D530-58FB-DD35A118DE4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0CACD6-1219-ACEC-7DCE-DC1B108A92E5}"/>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2231907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12C4F-392B-78BC-B924-11ED35C8407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A9DFE705-A0B0-0A17-031D-A8C8894D9F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A1E0B34-5A1A-7C7B-6A7B-302ED59A24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4ADE0FE-AEB4-314A-50D1-17D1E4DEDF49}"/>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6" name="Footer Placeholder 5">
            <a:extLst>
              <a:ext uri="{FF2B5EF4-FFF2-40B4-BE49-F238E27FC236}">
                <a16:creationId xmlns:a16="http://schemas.microsoft.com/office/drawing/2014/main" id="{CC0B65B2-BD53-ECC7-A82F-7EF887B73C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13EFC1-505E-6F3E-6429-CE10B933320D}"/>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3649731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D0563-3EE2-1C6D-D2A4-7383932834BD}"/>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2C9F137-EBE6-FAFA-C04D-EA0AB060488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955E0E5-ABAA-D9D6-CCA1-F03C2B0D0FC9}"/>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5" name="Footer Placeholder 4">
            <a:extLst>
              <a:ext uri="{FF2B5EF4-FFF2-40B4-BE49-F238E27FC236}">
                <a16:creationId xmlns:a16="http://schemas.microsoft.com/office/drawing/2014/main" id="{E453B05F-A600-2752-C65A-CC90B0EA95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B34558-575E-E11C-5C68-695E0304E32F}"/>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1562253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5E990D-E534-BAD2-CB0C-64343845A4A1}"/>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4C1272BB-C97A-23CD-D686-FE236EFB2A6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138DCFC-5B7E-3A4A-56BA-19F2E1B17C62}"/>
              </a:ext>
            </a:extLst>
          </p:cNvPr>
          <p:cNvSpPr>
            <a:spLocks noGrp="1"/>
          </p:cNvSpPr>
          <p:nvPr>
            <p:ph type="dt" sz="half" idx="10"/>
          </p:nvPr>
        </p:nvSpPr>
        <p:spPr/>
        <p:txBody>
          <a:bodyPr/>
          <a:lstStyle/>
          <a:p>
            <a:fld id="{E8B9082E-341F-4643-9D9F-6D7680B4D9F9}" type="datetimeFigureOut">
              <a:rPr lang="en-GB" smtClean="0"/>
              <a:t>30/09/2025</a:t>
            </a:fld>
            <a:endParaRPr lang="en-GB"/>
          </a:p>
        </p:txBody>
      </p:sp>
      <p:sp>
        <p:nvSpPr>
          <p:cNvPr id="5" name="Footer Placeholder 4">
            <a:extLst>
              <a:ext uri="{FF2B5EF4-FFF2-40B4-BE49-F238E27FC236}">
                <a16:creationId xmlns:a16="http://schemas.microsoft.com/office/drawing/2014/main" id="{D38D91B4-7120-A535-BED0-9834515041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3148CE-D8FD-79A5-02EE-52BDC5ED2A27}"/>
              </a:ext>
            </a:extLst>
          </p:cNvPr>
          <p:cNvSpPr>
            <a:spLocks noGrp="1"/>
          </p:cNvSpPr>
          <p:nvPr>
            <p:ph type="sldNum" sz="quarter" idx="12"/>
          </p:nvPr>
        </p:nvSpPr>
        <p:spPr/>
        <p:txBody>
          <a:bodyPr/>
          <a:lstStyle/>
          <a:p>
            <a:fld id="{B0508795-F436-4882-A493-A96936721BD3}" type="slidenum">
              <a:rPr lang="en-GB" smtClean="0"/>
              <a:t>‹#›</a:t>
            </a:fld>
            <a:endParaRPr lang="en-GB"/>
          </a:p>
        </p:txBody>
      </p:sp>
    </p:spTree>
    <p:extLst>
      <p:ext uri="{BB962C8B-B14F-4D97-AF65-F5344CB8AC3E}">
        <p14:creationId xmlns:p14="http://schemas.microsoft.com/office/powerpoint/2010/main" val="2595650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8DC50F-67DF-293D-8291-7D5D0AE86C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729053F-D424-4E47-AF4B-726DD5EB31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9CBA1BB-9A57-3EE8-C1F4-9B9584F601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B9082E-341F-4643-9D9F-6D7680B4D9F9}" type="datetimeFigureOut">
              <a:rPr lang="en-GB" smtClean="0"/>
              <a:t>30/09/2025</a:t>
            </a:fld>
            <a:endParaRPr lang="en-GB"/>
          </a:p>
        </p:txBody>
      </p:sp>
      <p:sp>
        <p:nvSpPr>
          <p:cNvPr id="5" name="Footer Placeholder 4">
            <a:extLst>
              <a:ext uri="{FF2B5EF4-FFF2-40B4-BE49-F238E27FC236}">
                <a16:creationId xmlns:a16="http://schemas.microsoft.com/office/drawing/2014/main" id="{2A70B825-1734-9DE4-712C-91781A441D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EB92600-EF7D-80BC-76A4-0709DB9415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508795-F436-4882-A493-A96936721BD3}" type="slidenum">
              <a:rPr lang="en-GB" smtClean="0"/>
              <a:t>‹#›</a:t>
            </a:fld>
            <a:endParaRPr lang="en-GB"/>
          </a:p>
        </p:txBody>
      </p:sp>
    </p:spTree>
    <p:extLst>
      <p:ext uri="{BB962C8B-B14F-4D97-AF65-F5344CB8AC3E}">
        <p14:creationId xmlns:p14="http://schemas.microsoft.com/office/powerpoint/2010/main" val="2075306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92929-F4CC-C454-CF95-A6A93F4B2EB7}"/>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070F77F4-82FA-61AC-2875-958847F3F9BE}"/>
              </a:ext>
            </a:extLst>
          </p:cNvPr>
          <p:cNvGrpSpPr/>
          <p:nvPr/>
        </p:nvGrpSpPr>
        <p:grpSpPr>
          <a:xfrm>
            <a:off x="0" y="0"/>
            <a:ext cx="1774370" cy="6857999"/>
            <a:chOff x="0" y="0"/>
            <a:chExt cx="1774370" cy="6857999"/>
          </a:xfrm>
        </p:grpSpPr>
        <p:sp>
          <p:nvSpPr>
            <p:cNvPr id="18" name="Free-form: Shape 17">
              <a:extLst>
                <a:ext uri="{FF2B5EF4-FFF2-40B4-BE49-F238E27FC236}">
                  <a16:creationId xmlns:a16="http://schemas.microsoft.com/office/drawing/2014/main" id="{DC8E29F2-1DA7-E2FC-9E4E-305016ED5202}"/>
                </a:ext>
              </a:extLst>
            </p:cNvPr>
            <p:cNvSpPr/>
            <p:nvPr/>
          </p:nvSpPr>
          <p:spPr>
            <a:xfrm flipV="1">
              <a:off x="0" y="0"/>
              <a:ext cx="1774370" cy="5894371"/>
            </a:xfrm>
            <a:custGeom>
              <a:avLst/>
              <a:gdLst>
                <a:gd name="connsiteX0" fmla="*/ 0 w 1774370"/>
                <a:gd name="connsiteY0" fmla="*/ 5894371 h 5894371"/>
                <a:gd name="connsiteX1" fmla="*/ 1774370 w 1774370"/>
                <a:gd name="connsiteY1" fmla="*/ 5894371 h 5894371"/>
                <a:gd name="connsiteX2" fmla="*/ 0 w 1774370"/>
                <a:gd name="connsiteY2" fmla="*/ 0 h 5894371"/>
              </a:gdLst>
              <a:ahLst/>
              <a:cxnLst>
                <a:cxn ang="0">
                  <a:pos x="connsiteX0" y="connsiteY0"/>
                </a:cxn>
                <a:cxn ang="0">
                  <a:pos x="connsiteX1" y="connsiteY1"/>
                </a:cxn>
                <a:cxn ang="0">
                  <a:pos x="connsiteX2" y="connsiteY2"/>
                </a:cxn>
              </a:cxnLst>
              <a:rect l="l" t="t" r="r" b="b"/>
              <a:pathLst>
                <a:path w="1774370" h="5894371">
                  <a:moveTo>
                    <a:pt x="0" y="5894371"/>
                  </a:moveTo>
                  <a:lnTo>
                    <a:pt x="1774370" y="5894371"/>
                  </a:lnTo>
                  <a:lnTo>
                    <a:pt x="0" y="0"/>
                  </a:lnTo>
                  <a:close/>
                </a:path>
              </a:pathLst>
            </a:custGeom>
            <a:solidFill>
              <a:srgbClr val="96DCF8">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0" name="Free-form: Shape 19">
              <a:extLst>
                <a:ext uri="{FF2B5EF4-FFF2-40B4-BE49-F238E27FC236}">
                  <a16:creationId xmlns:a16="http://schemas.microsoft.com/office/drawing/2014/main" id="{D3CE9D05-7D92-DB3C-6D59-85CEB53F923D}"/>
                </a:ext>
              </a:extLst>
            </p:cNvPr>
            <p:cNvSpPr/>
            <p:nvPr/>
          </p:nvSpPr>
          <p:spPr>
            <a:xfrm flipV="1">
              <a:off x="0" y="0"/>
              <a:ext cx="1066799" cy="6857999"/>
            </a:xfrm>
            <a:custGeom>
              <a:avLst/>
              <a:gdLst>
                <a:gd name="connsiteX0" fmla="*/ 0 w 1066799"/>
                <a:gd name="connsiteY0" fmla="*/ 6857999 h 6857999"/>
                <a:gd name="connsiteX1" fmla="*/ 1066799 w 1066799"/>
                <a:gd name="connsiteY1" fmla="*/ 6857999 h 6857999"/>
                <a:gd name="connsiteX2" fmla="*/ 70597 w 1066799"/>
                <a:gd name="connsiteY2" fmla="*/ 0 h 6857999"/>
                <a:gd name="connsiteX3" fmla="*/ 0 w 1066799"/>
                <a:gd name="connsiteY3" fmla="*/ 0 h 6857999"/>
              </a:gdLst>
              <a:ahLst/>
              <a:cxnLst>
                <a:cxn ang="0">
                  <a:pos x="connsiteX0" y="connsiteY0"/>
                </a:cxn>
                <a:cxn ang="0">
                  <a:pos x="connsiteX1" y="connsiteY1"/>
                </a:cxn>
                <a:cxn ang="0">
                  <a:pos x="connsiteX2" y="connsiteY2"/>
                </a:cxn>
                <a:cxn ang="0">
                  <a:pos x="connsiteX3" y="connsiteY3"/>
                </a:cxn>
              </a:cxnLst>
              <a:rect l="l" t="t" r="r" b="b"/>
              <a:pathLst>
                <a:path w="1066799" h="6857999">
                  <a:moveTo>
                    <a:pt x="0" y="6857999"/>
                  </a:moveTo>
                  <a:lnTo>
                    <a:pt x="1066799" y="6857999"/>
                  </a:lnTo>
                  <a:lnTo>
                    <a:pt x="70597" y="0"/>
                  </a:lnTo>
                  <a:lnTo>
                    <a:pt x="0" y="0"/>
                  </a:lnTo>
                  <a:close/>
                </a:path>
              </a:pathLst>
            </a:custGeom>
            <a:solidFill>
              <a:srgbClr val="96DCF8">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grpSp>
      <p:sp>
        <p:nvSpPr>
          <p:cNvPr id="2" name="Title 1">
            <a:extLst>
              <a:ext uri="{FF2B5EF4-FFF2-40B4-BE49-F238E27FC236}">
                <a16:creationId xmlns:a16="http://schemas.microsoft.com/office/drawing/2014/main" id="{2FADCEAA-E963-83EF-D63B-4F96321D3D98}"/>
              </a:ext>
            </a:extLst>
          </p:cNvPr>
          <p:cNvSpPr>
            <a:spLocks noGrp="1"/>
          </p:cNvSpPr>
          <p:nvPr>
            <p:ph type="ctrTitle"/>
          </p:nvPr>
        </p:nvSpPr>
        <p:spPr>
          <a:xfrm>
            <a:off x="647698" y="494791"/>
            <a:ext cx="10896601" cy="1468324"/>
          </a:xfrm>
        </p:spPr>
        <p:txBody>
          <a:bodyPr anchor="t">
            <a:noAutofit/>
          </a:bodyPr>
          <a:lstStyle/>
          <a:p>
            <a:r>
              <a:rPr lang="en-GB" sz="2800" noProof="0" dirty="0">
                <a:latin typeface="Cascadia Code Light" panose="020B0609020000020004" pitchFamily="49" charset="0"/>
                <a:ea typeface="Cascadia Code Light" panose="020B0609020000020004" pitchFamily="49" charset="0"/>
                <a:cs typeface="Cascadia Code Light" panose="020B0609020000020004" pitchFamily="49" charset="0"/>
              </a:rPr>
              <a:t>Hackathon 2025/2026 - Weekly Report</a:t>
            </a:r>
            <a:br>
              <a:rPr lang="en-GB" sz="2800" noProof="0" dirty="0">
                <a:latin typeface="Cascadia Code Light" panose="020B0609020000020004" pitchFamily="49" charset="0"/>
                <a:ea typeface="Cascadia Code Light" panose="020B0609020000020004" pitchFamily="49" charset="0"/>
                <a:cs typeface="Cascadia Code Light" panose="020B0609020000020004" pitchFamily="49" charset="0"/>
              </a:rPr>
            </a:br>
            <a:r>
              <a:rPr lang="en-GB" sz="1200" noProof="0" dirty="0">
                <a:latin typeface="Cascadia Code Light" panose="020B0609020000020004" pitchFamily="49" charset="0"/>
                <a:ea typeface="Cascadia Code Light" panose="020B0609020000020004" pitchFamily="49" charset="0"/>
                <a:cs typeface="Cascadia Code Light" panose="020B0609020000020004" pitchFamily="49" charset="0"/>
              </a:rPr>
              <a:t> </a:t>
            </a:r>
            <a:br>
              <a:rPr lang="en-GB" sz="2800" noProof="0" dirty="0">
                <a:latin typeface="Cascadia Code Light" panose="020B0609020000020004" pitchFamily="49" charset="0"/>
                <a:ea typeface="Cascadia Code Light" panose="020B0609020000020004" pitchFamily="49" charset="0"/>
                <a:cs typeface="Cascadia Code Light" panose="020B0609020000020004" pitchFamily="49" charset="0"/>
              </a:rPr>
            </a:br>
            <a:r>
              <a:rPr lang="en-GB" sz="2400" noProof="0" dirty="0">
                <a:latin typeface="Cascadia Code Light" panose="020B0609020000020004" pitchFamily="49" charset="0"/>
                <a:ea typeface="Cascadia Code Light" panose="020B0609020000020004" pitchFamily="49" charset="0"/>
                <a:cs typeface="Cascadia Code Light" panose="020B0609020000020004" pitchFamily="49" charset="0"/>
              </a:rPr>
              <a:t>Week 1</a:t>
            </a:r>
            <a:endParaRPr lang="en-GB" sz="2800" noProof="0" dirty="0">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8" name="TextBox 7">
            <a:extLst>
              <a:ext uri="{FF2B5EF4-FFF2-40B4-BE49-F238E27FC236}">
                <a16:creationId xmlns:a16="http://schemas.microsoft.com/office/drawing/2014/main" id="{E8120B8D-CF82-F629-7A56-5769E8B6B122}"/>
              </a:ext>
            </a:extLst>
          </p:cNvPr>
          <p:cNvSpPr txBox="1"/>
          <p:nvPr/>
        </p:nvSpPr>
        <p:spPr>
          <a:xfrm>
            <a:off x="279396" y="2330906"/>
            <a:ext cx="11633204" cy="827278"/>
          </a:xfrm>
          <a:prstGeom prst="rect">
            <a:avLst/>
          </a:prstGeom>
          <a:noFill/>
        </p:spPr>
        <p:txBody>
          <a:bodyPr wrap="square" rtlCol="0">
            <a:spAutoFit/>
          </a:bodyPr>
          <a:lstStyle/>
          <a:p>
            <a:pPr algn="ctr">
              <a:lnSpc>
                <a:spcPct val="150000"/>
              </a:lnSpc>
            </a:pPr>
            <a:r>
              <a:rPr lang="en-GB" sz="3600" noProof="0" dirty="0">
                <a:latin typeface="Cascadia Mono" panose="020B0609020000020004" pitchFamily="49" charset="0"/>
                <a:ea typeface="Cascadia Mono" panose="020B0609020000020004" pitchFamily="49" charset="0"/>
                <a:cs typeface="Cascadia Mono" panose="020B0609020000020004" pitchFamily="49" charset="0"/>
              </a:rPr>
              <a:t>The FIRE-HACK Project</a:t>
            </a:r>
          </a:p>
        </p:txBody>
      </p:sp>
      <p:sp>
        <p:nvSpPr>
          <p:cNvPr id="11" name="Title 1">
            <a:extLst>
              <a:ext uri="{FF2B5EF4-FFF2-40B4-BE49-F238E27FC236}">
                <a16:creationId xmlns:a16="http://schemas.microsoft.com/office/drawing/2014/main" id="{ED8560AB-632F-8947-CA60-C26929CEC63A}"/>
              </a:ext>
            </a:extLst>
          </p:cNvPr>
          <p:cNvSpPr txBox="1">
            <a:spLocks/>
          </p:cNvSpPr>
          <p:nvPr/>
        </p:nvSpPr>
        <p:spPr>
          <a:xfrm>
            <a:off x="275770" y="5679652"/>
            <a:ext cx="9339944" cy="1267248"/>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600" kern="0" noProof="0" dirty="0">
                <a:latin typeface="Cascadia Mono Light" panose="020B0609020000020004" pitchFamily="49" charset="0"/>
                <a:ea typeface="Cascadia Mono Light" panose="020B0609020000020004" pitchFamily="49" charset="0"/>
                <a:cs typeface="Cascadia Mono Light" panose="020B0609020000020004" pitchFamily="49" charset="0"/>
              </a:rPr>
              <a:t>Team 2: Ana Carolina Menoita (nº 25953), Diogo Gomes (nº 26843), João Faia (nº), Rafael Oliveira (nº 26606) and Xavier (nº 28648) </a:t>
            </a:r>
          </a:p>
          <a:p>
            <a:pPr algn="l"/>
            <a:endParaRPr lang="en-GB" sz="1600" kern="0" noProof="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algn="l"/>
            <a:r>
              <a:rPr lang="en-GB" sz="1600" kern="0" noProof="0" dirty="0">
                <a:latin typeface="Cascadia Mono Light" panose="020B0609020000020004" pitchFamily="49" charset="0"/>
                <a:ea typeface="Cascadia Mono Light" panose="020B0609020000020004" pitchFamily="49" charset="0"/>
                <a:cs typeface="Cascadia Mono Light" panose="020B0609020000020004" pitchFamily="49" charset="0"/>
              </a:rPr>
              <a:t>Presented by: Rafael Oliveira (nº 26606) </a:t>
            </a:r>
          </a:p>
        </p:txBody>
      </p:sp>
    </p:spTree>
    <p:extLst>
      <p:ext uri="{BB962C8B-B14F-4D97-AF65-F5344CB8AC3E}">
        <p14:creationId xmlns:p14="http://schemas.microsoft.com/office/powerpoint/2010/main" val="1399706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DB333-3F43-7F1B-5F61-53C931410B93}"/>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A00B2FAD-DE95-BC85-8E8C-35CAAF498859}"/>
              </a:ext>
            </a:extLst>
          </p:cNvPr>
          <p:cNvGrpSpPr/>
          <p:nvPr/>
        </p:nvGrpSpPr>
        <p:grpSpPr>
          <a:xfrm>
            <a:off x="0" y="0"/>
            <a:ext cx="1774370" cy="6857999"/>
            <a:chOff x="0" y="0"/>
            <a:chExt cx="1774370" cy="6857999"/>
          </a:xfrm>
        </p:grpSpPr>
        <p:sp>
          <p:nvSpPr>
            <p:cNvPr id="18" name="Free-form: Shape 17">
              <a:extLst>
                <a:ext uri="{FF2B5EF4-FFF2-40B4-BE49-F238E27FC236}">
                  <a16:creationId xmlns:a16="http://schemas.microsoft.com/office/drawing/2014/main" id="{DABE4BF5-9F04-ED2C-4417-C8DEE5EEFC0E}"/>
                </a:ext>
              </a:extLst>
            </p:cNvPr>
            <p:cNvSpPr/>
            <p:nvPr/>
          </p:nvSpPr>
          <p:spPr>
            <a:xfrm flipV="1">
              <a:off x="0" y="0"/>
              <a:ext cx="1774370" cy="5894371"/>
            </a:xfrm>
            <a:custGeom>
              <a:avLst/>
              <a:gdLst>
                <a:gd name="connsiteX0" fmla="*/ 0 w 1774370"/>
                <a:gd name="connsiteY0" fmla="*/ 5894371 h 5894371"/>
                <a:gd name="connsiteX1" fmla="*/ 1774370 w 1774370"/>
                <a:gd name="connsiteY1" fmla="*/ 5894371 h 5894371"/>
                <a:gd name="connsiteX2" fmla="*/ 0 w 1774370"/>
                <a:gd name="connsiteY2" fmla="*/ 0 h 5894371"/>
              </a:gdLst>
              <a:ahLst/>
              <a:cxnLst>
                <a:cxn ang="0">
                  <a:pos x="connsiteX0" y="connsiteY0"/>
                </a:cxn>
                <a:cxn ang="0">
                  <a:pos x="connsiteX1" y="connsiteY1"/>
                </a:cxn>
                <a:cxn ang="0">
                  <a:pos x="connsiteX2" y="connsiteY2"/>
                </a:cxn>
              </a:cxnLst>
              <a:rect l="l" t="t" r="r" b="b"/>
              <a:pathLst>
                <a:path w="1774370" h="5894371">
                  <a:moveTo>
                    <a:pt x="0" y="5894371"/>
                  </a:moveTo>
                  <a:lnTo>
                    <a:pt x="1774370" y="5894371"/>
                  </a:lnTo>
                  <a:lnTo>
                    <a:pt x="0" y="0"/>
                  </a:lnTo>
                  <a:close/>
                </a:path>
              </a:pathLst>
            </a:custGeom>
            <a:solidFill>
              <a:srgbClr val="96DCF8">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0" name="Free-form: Shape 19">
              <a:extLst>
                <a:ext uri="{FF2B5EF4-FFF2-40B4-BE49-F238E27FC236}">
                  <a16:creationId xmlns:a16="http://schemas.microsoft.com/office/drawing/2014/main" id="{A4B6AB9B-5F59-92EA-6929-E7BC7A7FD68D}"/>
                </a:ext>
              </a:extLst>
            </p:cNvPr>
            <p:cNvSpPr/>
            <p:nvPr/>
          </p:nvSpPr>
          <p:spPr>
            <a:xfrm flipV="1">
              <a:off x="0" y="0"/>
              <a:ext cx="1066799" cy="6857999"/>
            </a:xfrm>
            <a:custGeom>
              <a:avLst/>
              <a:gdLst>
                <a:gd name="connsiteX0" fmla="*/ 0 w 1066799"/>
                <a:gd name="connsiteY0" fmla="*/ 6857999 h 6857999"/>
                <a:gd name="connsiteX1" fmla="*/ 1066799 w 1066799"/>
                <a:gd name="connsiteY1" fmla="*/ 6857999 h 6857999"/>
                <a:gd name="connsiteX2" fmla="*/ 70597 w 1066799"/>
                <a:gd name="connsiteY2" fmla="*/ 0 h 6857999"/>
                <a:gd name="connsiteX3" fmla="*/ 0 w 1066799"/>
                <a:gd name="connsiteY3" fmla="*/ 0 h 6857999"/>
              </a:gdLst>
              <a:ahLst/>
              <a:cxnLst>
                <a:cxn ang="0">
                  <a:pos x="connsiteX0" y="connsiteY0"/>
                </a:cxn>
                <a:cxn ang="0">
                  <a:pos x="connsiteX1" y="connsiteY1"/>
                </a:cxn>
                <a:cxn ang="0">
                  <a:pos x="connsiteX2" y="connsiteY2"/>
                </a:cxn>
                <a:cxn ang="0">
                  <a:pos x="connsiteX3" y="connsiteY3"/>
                </a:cxn>
              </a:cxnLst>
              <a:rect l="l" t="t" r="r" b="b"/>
              <a:pathLst>
                <a:path w="1066799" h="6857999">
                  <a:moveTo>
                    <a:pt x="0" y="6857999"/>
                  </a:moveTo>
                  <a:lnTo>
                    <a:pt x="1066799" y="6857999"/>
                  </a:lnTo>
                  <a:lnTo>
                    <a:pt x="70597" y="0"/>
                  </a:lnTo>
                  <a:lnTo>
                    <a:pt x="0" y="0"/>
                  </a:lnTo>
                  <a:close/>
                </a:path>
              </a:pathLst>
            </a:custGeom>
            <a:solidFill>
              <a:srgbClr val="96DCF8">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grpSp>
      <p:sp>
        <p:nvSpPr>
          <p:cNvPr id="8" name="TextBox 7">
            <a:extLst>
              <a:ext uri="{FF2B5EF4-FFF2-40B4-BE49-F238E27FC236}">
                <a16:creationId xmlns:a16="http://schemas.microsoft.com/office/drawing/2014/main" id="{614BA4FC-57F0-3088-466C-F8CF75AE9A7C}"/>
              </a:ext>
            </a:extLst>
          </p:cNvPr>
          <p:cNvSpPr txBox="1"/>
          <p:nvPr/>
        </p:nvSpPr>
        <p:spPr>
          <a:xfrm>
            <a:off x="279396" y="386722"/>
            <a:ext cx="11633204" cy="827278"/>
          </a:xfrm>
          <a:prstGeom prst="rect">
            <a:avLst/>
          </a:prstGeom>
          <a:noFill/>
        </p:spPr>
        <p:txBody>
          <a:bodyPr wrap="square" rtlCol="0">
            <a:spAutoFit/>
          </a:bodyPr>
          <a:lstStyle/>
          <a:p>
            <a:pPr algn="ctr">
              <a:lnSpc>
                <a:spcPct val="150000"/>
              </a:lnSpc>
            </a:pPr>
            <a:r>
              <a:rPr lang="en-GB" sz="3600" noProof="0" dirty="0">
                <a:latin typeface="Cascadia Mono" panose="020B0609020000020004" pitchFamily="49" charset="0"/>
                <a:ea typeface="Cascadia Mono" panose="020B0609020000020004" pitchFamily="49" charset="0"/>
                <a:cs typeface="Cascadia Mono" panose="020B0609020000020004" pitchFamily="49" charset="0"/>
              </a:rPr>
              <a:t>Current Paradigm</a:t>
            </a:r>
          </a:p>
        </p:txBody>
      </p:sp>
      <p:sp>
        <p:nvSpPr>
          <p:cNvPr id="6" name="TextBox 5">
            <a:extLst>
              <a:ext uri="{FF2B5EF4-FFF2-40B4-BE49-F238E27FC236}">
                <a16:creationId xmlns:a16="http://schemas.microsoft.com/office/drawing/2014/main" id="{09BE610A-4467-1BAD-1ADD-DF27874559B5}"/>
              </a:ext>
            </a:extLst>
          </p:cNvPr>
          <p:cNvSpPr txBox="1"/>
          <p:nvPr/>
        </p:nvSpPr>
        <p:spPr>
          <a:xfrm>
            <a:off x="1623709" y="1815248"/>
            <a:ext cx="3960663" cy="3477875"/>
          </a:xfrm>
          <a:prstGeom prst="rect">
            <a:avLst/>
          </a:prstGeom>
          <a:noFill/>
        </p:spPr>
        <p:txBody>
          <a:bodyPr wrap="square" rtlCol="0">
            <a:spAutoFit/>
          </a:bodyPr>
          <a:lstStyle/>
          <a:p>
            <a:pPr algn="just"/>
            <a:r>
              <a:rPr lang="en-GB" sz="2000" noProof="0" dirty="0">
                <a:latin typeface="Cascadia Code Light" panose="020B0609020000020004" pitchFamily="49" charset="0"/>
                <a:ea typeface="Cascadia Code Light" panose="020B0609020000020004" pitchFamily="49" charset="0"/>
                <a:cs typeface="Cascadia Code Light" panose="020B0609020000020004" pitchFamily="49" charset="0"/>
              </a:rPr>
              <a:t>	Knowledge about the highly complex phenomenon of forest fires is still limited. This is one of the reasons for the unprecedented number of deaths, destruction of homes and infrastructure, and the excessively large area of forest burned in recent years.</a:t>
            </a:r>
          </a:p>
        </p:txBody>
      </p:sp>
      <p:grpSp>
        <p:nvGrpSpPr>
          <p:cNvPr id="22" name="Group 21">
            <a:extLst>
              <a:ext uri="{FF2B5EF4-FFF2-40B4-BE49-F238E27FC236}">
                <a16:creationId xmlns:a16="http://schemas.microsoft.com/office/drawing/2014/main" id="{A553E8E4-569A-3CFC-9A2B-8BE1BECBB0BD}"/>
              </a:ext>
            </a:extLst>
          </p:cNvPr>
          <p:cNvGrpSpPr/>
          <p:nvPr/>
        </p:nvGrpSpPr>
        <p:grpSpPr>
          <a:xfrm>
            <a:off x="6738256" y="1883751"/>
            <a:ext cx="4401458" cy="4458668"/>
            <a:chOff x="6738256" y="1720465"/>
            <a:chExt cx="4401458" cy="4458668"/>
          </a:xfrm>
        </p:grpSpPr>
        <p:pic>
          <p:nvPicPr>
            <p:cNvPr id="14" name="Picture 13">
              <a:extLst>
                <a:ext uri="{FF2B5EF4-FFF2-40B4-BE49-F238E27FC236}">
                  <a16:creationId xmlns:a16="http://schemas.microsoft.com/office/drawing/2014/main" id="{30779DC3-EF85-37AF-534D-76575BD0ED71}"/>
                </a:ext>
              </a:extLst>
            </p:cNvPr>
            <p:cNvPicPr>
              <a:picLocks noChangeAspect="1"/>
            </p:cNvPicPr>
            <p:nvPr/>
          </p:nvPicPr>
          <p:blipFill>
            <a:blip r:embed="rId2"/>
            <a:stretch>
              <a:fillRect/>
            </a:stretch>
          </p:blipFill>
          <p:spPr>
            <a:xfrm flipH="1">
              <a:off x="6738256" y="3765667"/>
              <a:ext cx="4401458" cy="2413466"/>
            </a:xfrm>
            <a:prstGeom prst="rect">
              <a:avLst/>
            </a:prstGeom>
            <a:ln w="19050">
              <a:solidFill>
                <a:schemeClr val="accent1"/>
              </a:solidFill>
            </a:ln>
          </p:spPr>
        </p:pic>
        <p:pic>
          <p:nvPicPr>
            <p:cNvPr id="16" name="Picture 15">
              <a:extLst>
                <a:ext uri="{FF2B5EF4-FFF2-40B4-BE49-F238E27FC236}">
                  <a16:creationId xmlns:a16="http://schemas.microsoft.com/office/drawing/2014/main" id="{232D1BFD-67BF-553E-8225-D06C33057F43}"/>
                </a:ext>
              </a:extLst>
            </p:cNvPr>
            <p:cNvPicPr>
              <a:picLocks noChangeAspect="1"/>
            </p:cNvPicPr>
            <p:nvPr/>
          </p:nvPicPr>
          <p:blipFill>
            <a:blip r:embed="rId3"/>
            <a:srcRect b="12994"/>
            <a:stretch>
              <a:fillRect/>
            </a:stretch>
          </p:blipFill>
          <p:spPr>
            <a:xfrm>
              <a:off x="6738257" y="1720465"/>
              <a:ext cx="4401457" cy="2010523"/>
            </a:xfrm>
            <a:prstGeom prst="rect">
              <a:avLst/>
            </a:prstGeom>
            <a:ln w="19050">
              <a:solidFill>
                <a:schemeClr val="accent1"/>
              </a:solidFill>
            </a:ln>
          </p:spPr>
        </p:pic>
      </p:grpSp>
    </p:spTree>
    <p:extLst>
      <p:ext uri="{BB962C8B-B14F-4D97-AF65-F5344CB8AC3E}">
        <p14:creationId xmlns:p14="http://schemas.microsoft.com/office/powerpoint/2010/main" val="1445852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BC7F8-DC97-1FEC-AABB-78998B0C469B}"/>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BAE5A8FE-E4D8-0C64-ED34-CFF6F5A32527}"/>
              </a:ext>
            </a:extLst>
          </p:cNvPr>
          <p:cNvGrpSpPr/>
          <p:nvPr/>
        </p:nvGrpSpPr>
        <p:grpSpPr>
          <a:xfrm>
            <a:off x="0" y="0"/>
            <a:ext cx="1774370" cy="6857999"/>
            <a:chOff x="0" y="0"/>
            <a:chExt cx="1774370" cy="6857999"/>
          </a:xfrm>
        </p:grpSpPr>
        <p:sp>
          <p:nvSpPr>
            <p:cNvPr id="18" name="Free-form: Shape 17">
              <a:extLst>
                <a:ext uri="{FF2B5EF4-FFF2-40B4-BE49-F238E27FC236}">
                  <a16:creationId xmlns:a16="http://schemas.microsoft.com/office/drawing/2014/main" id="{234BFF21-3988-941F-7908-DDBD3713A3A8}"/>
                </a:ext>
              </a:extLst>
            </p:cNvPr>
            <p:cNvSpPr/>
            <p:nvPr/>
          </p:nvSpPr>
          <p:spPr>
            <a:xfrm flipV="1">
              <a:off x="0" y="0"/>
              <a:ext cx="1774370" cy="5894371"/>
            </a:xfrm>
            <a:custGeom>
              <a:avLst/>
              <a:gdLst>
                <a:gd name="connsiteX0" fmla="*/ 0 w 1774370"/>
                <a:gd name="connsiteY0" fmla="*/ 5894371 h 5894371"/>
                <a:gd name="connsiteX1" fmla="*/ 1774370 w 1774370"/>
                <a:gd name="connsiteY1" fmla="*/ 5894371 h 5894371"/>
                <a:gd name="connsiteX2" fmla="*/ 0 w 1774370"/>
                <a:gd name="connsiteY2" fmla="*/ 0 h 5894371"/>
              </a:gdLst>
              <a:ahLst/>
              <a:cxnLst>
                <a:cxn ang="0">
                  <a:pos x="connsiteX0" y="connsiteY0"/>
                </a:cxn>
                <a:cxn ang="0">
                  <a:pos x="connsiteX1" y="connsiteY1"/>
                </a:cxn>
                <a:cxn ang="0">
                  <a:pos x="connsiteX2" y="connsiteY2"/>
                </a:cxn>
              </a:cxnLst>
              <a:rect l="l" t="t" r="r" b="b"/>
              <a:pathLst>
                <a:path w="1774370" h="5894371">
                  <a:moveTo>
                    <a:pt x="0" y="5894371"/>
                  </a:moveTo>
                  <a:lnTo>
                    <a:pt x="1774370" y="5894371"/>
                  </a:lnTo>
                  <a:lnTo>
                    <a:pt x="0" y="0"/>
                  </a:lnTo>
                  <a:close/>
                </a:path>
              </a:pathLst>
            </a:custGeom>
            <a:solidFill>
              <a:srgbClr val="96DCF8">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0" name="Free-form: Shape 19">
              <a:extLst>
                <a:ext uri="{FF2B5EF4-FFF2-40B4-BE49-F238E27FC236}">
                  <a16:creationId xmlns:a16="http://schemas.microsoft.com/office/drawing/2014/main" id="{61D115D5-9F24-05E2-ED79-26BDFC985FD5}"/>
                </a:ext>
              </a:extLst>
            </p:cNvPr>
            <p:cNvSpPr/>
            <p:nvPr/>
          </p:nvSpPr>
          <p:spPr>
            <a:xfrm flipV="1">
              <a:off x="0" y="0"/>
              <a:ext cx="1066799" cy="6857999"/>
            </a:xfrm>
            <a:custGeom>
              <a:avLst/>
              <a:gdLst>
                <a:gd name="connsiteX0" fmla="*/ 0 w 1066799"/>
                <a:gd name="connsiteY0" fmla="*/ 6857999 h 6857999"/>
                <a:gd name="connsiteX1" fmla="*/ 1066799 w 1066799"/>
                <a:gd name="connsiteY1" fmla="*/ 6857999 h 6857999"/>
                <a:gd name="connsiteX2" fmla="*/ 70597 w 1066799"/>
                <a:gd name="connsiteY2" fmla="*/ 0 h 6857999"/>
                <a:gd name="connsiteX3" fmla="*/ 0 w 1066799"/>
                <a:gd name="connsiteY3" fmla="*/ 0 h 6857999"/>
              </a:gdLst>
              <a:ahLst/>
              <a:cxnLst>
                <a:cxn ang="0">
                  <a:pos x="connsiteX0" y="connsiteY0"/>
                </a:cxn>
                <a:cxn ang="0">
                  <a:pos x="connsiteX1" y="connsiteY1"/>
                </a:cxn>
                <a:cxn ang="0">
                  <a:pos x="connsiteX2" y="connsiteY2"/>
                </a:cxn>
                <a:cxn ang="0">
                  <a:pos x="connsiteX3" y="connsiteY3"/>
                </a:cxn>
              </a:cxnLst>
              <a:rect l="l" t="t" r="r" b="b"/>
              <a:pathLst>
                <a:path w="1066799" h="6857999">
                  <a:moveTo>
                    <a:pt x="0" y="6857999"/>
                  </a:moveTo>
                  <a:lnTo>
                    <a:pt x="1066799" y="6857999"/>
                  </a:lnTo>
                  <a:lnTo>
                    <a:pt x="70597" y="0"/>
                  </a:lnTo>
                  <a:lnTo>
                    <a:pt x="0" y="0"/>
                  </a:lnTo>
                  <a:close/>
                </a:path>
              </a:pathLst>
            </a:custGeom>
            <a:solidFill>
              <a:srgbClr val="96DCF8">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grpSp>
      <p:sp>
        <p:nvSpPr>
          <p:cNvPr id="8" name="TextBox 7">
            <a:extLst>
              <a:ext uri="{FF2B5EF4-FFF2-40B4-BE49-F238E27FC236}">
                <a16:creationId xmlns:a16="http://schemas.microsoft.com/office/drawing/2014/main" id="{BA3BD8B6-25D3-9E26-B0FB-F5EBC4AD8B55}"/>
              </a:ext>
            </a:extLst>
          </p:cNvPr>
          <p:cNvSpPr txBox="1"/>
          <p:nvPr/>
        </p:nvSpPr>
        <p:spPr>
          <a:xfrm>
            <a:off x="279396" y="386722"/>
            <a:ext cx="11633204" cy="827278"/>
          </a:xfrm>
          <a:prstGeom prst="rect">
            <a:avLst/>
          </a:prstGeom>
          <a:noFill/>
        </p:spPr>
        <p:txBody>
          <a:bodyPr wrap="square" rtlCol="0">
            <a:spAutoFit/>
          </a:bodyPr>
          <a:lstStyle/>
          <a:p>
            <a:pPr algn="ctr">
              <a:lnSpc>
                <a:spcPct val="150000"/>
              </a:lnSpc>
            </a:pPr>
            <a:r>
              <a:rPr lang="en-GB" sz="3600" noProof="0" dirty="0">
                <a:latin typeface="Cascadia Mono" panose="020B0609020000020004" pitchFamily="49" charset="0"/>
                <a:ea typeface="Cascadia Mono" panose="020B0609020000020004" pitchFamily="49" charset="0"/>
                <a:cs typeface="Cascadia Mono" panose="020B0609020000020004" pitchFamily="49" charset="0"/>
              </a:rPr>
              <a:t>The FIRE-HACK Project</a:t>
            </a:r>
          </a:p>
        </p:txBody>
      </p:sp>
      <p:sp>
        <p:nvSpPr>
          <p:cNvPr id="6" name="TextBox 5">
            <a:extLst>
              <a:ext uri="{FF2B5EF4-FFF2-40B4-BE49-F238E27FC236}">
                <a16:creationId xmlns:a16="http://schemas.microsoft.com/office/drawing/2014/main" id="{BFDA2EB1-5062-3E1A-D1BA-5EA36F9B77F4}"/>
              </a:ext>
            </a:extLst>
          </p:cNvPr>
          <p:cNvSpPr txBox="1"/>
          <p:nvPr/>
        </p:nvSpPr>
        <p:spPr>
          <a:xfrm>
            <a:off x="1623709" y="1815248"/>
            <a:ext cx="9516005" cy="1015663"/>
          </a:xfrm>
          <a:prstGeom prst="rect">
            <a:avLst/>
          </a:prstGeom>
          <a:noFill/>
        </p:spPr>
        <p:txBody>
          <a:bodyPr wrap="square" rtlCol="0">
            <a:spAutoFit/>
          </a:bodyPr>
          <a:lstStyle/>
          <a:p>
            <a:pPr algn="just"/>
            <a:r>
              <a:rPr lang="en-GB" sz="2000" noProof="0" dirty="0">
                <a:latin typeface="Cascadia Code Light" panose="020B0609020000020004" pitchFamily="49" charset="0"/>
                <a:ea typeface="Cascadia Code Light" panose="020B0609020000020004" pitchFamily="49" charset="0"/>
                <a:cs typeface="Cascadia Code Light" panose="020B0609020000020004" pitchFamily="49" charset="0"/>
              </a:rPr>
              <a:t>It aims to better understand and predict the behaviour of fires, how they depend on fuels, topography and the weather.</a:t>
            </a:r>
            <a:endParaRPr lang="en-GB" sz="2000" dirty="0">
              <a:latin typeface="Cascadia Code Light" panose="020B0609020000020004" pitchFamily="49" charset="0"/>
              <a:ea typeface="Cascadia Code Light" panose="020B0609020000020004" pitchFamily="49" charset="0"/>
              <a:cs typeface="Cascadia Code Light" panose="020B0609020000020004" pitchFamily="49" charset="0"/>
            </a:endParaRPr>
          </a:p>
          <a:p>
            <a:pPr marL="342900" indent="-342900" algn="just">
              <a:buFont typeface="Arial" panose="020B0604020202020204" pitchFamily="34" charset="0"/>
              <a:buChar char="•"/>
            </a:pPr>
            <a:endParaRPr lang="en-GB" sz="2000" noProof="0" dirty="0">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7" name="TextBox 6">
            <a:extLst>
              <a:ext uri="{FF2B5EF4-FFF2-40B4-BE49-F238E27FC236}">
                <a16:creationId xmlns:a16="http://schemas.microsoft.com/office/drawing/2014/main" id="{F3EF67E6-1F08-9CE0-44EC-04750D811934}"/>
              </a:ext>
            </a:extLst>
          </p:cNvPr>
          <p:cNvSpPr txBox="1"/>
          <p:nvPr/>
        </p:nvSpPr>
        <p:spPr>
          <a:xfrm>
            <a:off x="2020169" y="3762844"/>
            <a:ext cx="9646632" cy="2708434"/>
          </a:xfrm>
          <a:prstGeom prst="rect">
            <a:avLst/>
          </a:prstGeom>
          <a:noFill/>
        </p:spPr>
        <p:txBody>
          <a:bodyPr wrap="square" rtlCol="0">
            <a:spAutoFit/>
          </a:bodyPr>
          <a:lstStyle/>
          <a:p>
            <a:pPr marL="342900" indent="-342900" algn="just">
              <a:spcAft>
                <a:spcPts val="1200"/>
              </a:spcAft>
              <a:buFont typeface="Arial" panose="020B0604020202020204" pitchFamily="34" charset="0"/>
              <a:buChar char="•"/>
            </a:pPr>
            <a:r>
              <a:rPr lang="en-GB" sz="2000" noProof="0" dirty="0">
                <a:latin typeface="Cascadia Code Light" panose="020B0609020000020004" pitchFamily="49" charset="0"/>
                <a:ea typeface="Cascadia Code Light" panose="020B0609020000020004" pitchFamily="49" charset="0"/>
                <a:cs typeface="Cascadia Code Light" panose="020B0609020000020004" pitchFamily="49" charset="0"/>
              </a:rPr>
              <a:t>To plan mitigation actions;</a:t>
            </a:r>
          </a:p>
          <a:p>
            <a:pPr marL="342900" indent="-342900" algn="just">
              <a:spcAft>
                <a:spcPts val="1200"/>
              </a:spcAft>
              <a:buFont typeface="Arial" panose="020B0604020202020204" pitchFamily="34" charset="0"/>
              <a:buChar char="•"/>
            </a:pPr>
            <a:r>
              <a:rPr lang="en-GB" sz="2000" noProof="0" dirty="0">
                <a:latin typeface="Cascadia Code Light" panose="020B0609020000020004" pitchFamily="49" charset="0"/>
                <a:ea typeface="Cascadia Code Light" panose="020B0609020000020004" pitchFamily="49" charset="0"/>
                <a:cs typeface="Cascadia Code Light" panose="020B0609020000020004" pitchFamily="49" charset="0"/>
              </a:rPr>
              <a:t>To protect significant areas and reduce risk;</a:t>
            </a:r>
          </a:p>
          <a:p>
            <a:pPr marL="342900" indent="-342900" algn="just">
              <a:spcAft>
                <a:spcPts val="1200"/>
              </a:spcAft>
              <a:buFont typeface="Arial" panose="020B0604020202020204" pitchFamily="34" charset="0"/>
              <a:buChar char="•"/>
            </a:pPr>
            <a:r>
              <a:rPr lang="en-GB" sz="2000" dirty="0">
                <a:latin typeface="Cascadia Code Light" panose="020B0609020000020004" pitchFamily="49" charset="0"/>
                <a:ea typeface="Cascadia Code Light" panose="020B0609020000020004" pitchFamily="49" charset="0"/>
                <a:cs typeface="Cascadia Code Light" panose="020B0609020000020004" pitchFamily="49" charset="0"/>
              </a:rPr>
              <a:t>To delineate alert and evacuation plans;</a:t>
            </a:r>
          </a:p>
          <a:p>
            <a:pPr marL="342900" indent="-342900" algn="just">
              <a:spcAft>
                <a:spcPts val="1200"/>
              </a:spcAft>
              <a:buFont typeface="Arial" panose="020B0604020202020204" pitchFamily="34" charset="0"/>
              <a:buChar char="•"/>
            </a:pPr>
            <a:r>
              <a:rPr lang="en-GB" sz="2000" noProof="0" dirty="0">
                <a:latin typeface="Cascadia Code Light" panose="020B0609020000020004" pitchFamily="49" charset="0"/>
                <a:ea typeface="Cascadia Code Light" panose="020B0609020000020004" pitchFamily="49" charset="0"/>
                <a:cs typeface="Cascadia Code Light" panose="020B0609020000020004" pitchFamily="49" charset="0"/>
              </a:rPr>
              <a:t>To define the deployment of resources for wildfires;</a:t>
            </a:r>
          </a:p>
          <a:p>
            <a:pPr marL="342900" indent="-342900" algn="just">
              <a:spcAft>
                <a:spcPts val="1200"/>
              </a:spcAft>
              <a:buFont typeface="Arial" panose="020B0604020202020204" pitchFamily="34" charset="0"/>
              <a:buChar char="•"/>
            </a:pPr>
            <a:r>
              <a:rPr lang="en-GB" sz="2000" noProof="0" dirty="0">
                <a:latin typeface="Cascadia Code Light" panose="020B0609020000020004" pitchFamily="49" charset="0"/>
                <a:ea typeface="Cascadia Code Light" panose="020B0609020000020004" pitchFamily="49" charset="0"/>
                <a:cs typeface="Cascadia Code Light" panose="020B0609020000020004" pitchFamily="49" charset="0"/>
              </a:rPr>
              <a:t>To dictate post-fire recovery actions.</a:t>
            </a:r>
          </a:p>
          <a:p>
            <a:pPr marL="342900" indent="-342900" algn="just">
              <a:spcAft>
                <a:spcPts val="1200"/>
              </a:spcAft>
              <a:buFont typeface="Arial" panose="020B0604020202020204" pitchFamily="34" charset="0"/>
              <a:buChar char="•"/>
            </a:pPr>
            <a:endParaRPr lang="en-GB" sz="2000" noProof="0" dirty="0">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12" name="Arrow: Down 11">
            <a:extLst>
              <a:ext uri="{FF2B5EF4-FFF2-40B4-BE49-F238E27FC236}">
                <a16:creationId xmlns:a16="http://schemas.microsoft.com/office/drawing/2014/main" id="{3772608E-31FA-47F6-E5AB-2C0AD4E6F42F}"/>
              </a:ext>
            </a:extLst>
          </p:cNvPr>
          <p:cNvSpPr/>
          <p:nvPr/>
        </p:nvSpPr>
        <p:spPr>
          <a:xfrm>
            <a:off x="2340429" y="2879027"/>
            <a:ext cx="484632" cy="555172"/>
          </a:xfrm>
          <a:prstGeom prst="downArrow">
            <a:avLst/>
          </a:prstGeom>
          <a:solidFill>
            <a:srgbClr val="96DCF8"/>
          </a:solidFill>
          <a:ln>
            <a:solidFill>
              <a:srgbClr val="83B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23573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4D77A-32D0-C94F-59DE-E7EDA4C8643D}"/>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6F7F157A-0243-1B70-E49F-2BB618F925C4}"/>
              </a:ext>
            </a:extLst>
          </p:cNvPr>
          <p:cNvGrpSpPr/>
          <p:nvPr/>
        </p:nvGrpSpPr>
        <p:grpSpPr>
          <a:xfrm>
            <a:off x="0" y="0"/>
            <a:ext cx="1774370" cy="6857999"/>
            <a:chOff x="0" y="0"/>
            <a:chExt cx="1774370" cy="6857999"/>
          </a:xfrm>
        </p:grpSpPr>
        <p:sp>
          <p:nvSpPr>
            <p:cNvPr id="18" name="Free-form: Shape 17">
              <a:extLst>
                <a:ext uri="{FF2B5EF4-FFF2-40B4-BE49-F238E27FC236}">
                  <a16:creationId xmlns:a16="http://schemas.microsoft.com/office/drawing/2014/main" id="{74A79B52-2915-F3C5-419E-7276389F035A}"/>
                </a:ext>
              </a:extLst>
            </p:cNvPr>
            <p:cNvSpPr/>
            <p:nvPr/>
          </p:nvSpPr>
          <p:spPr>
            <a:xfrm flipV="1">
              <a:off x="0" y="0"/>
              <a:ext cx="1774370" cy="5894371"/>
            </a:xfrm>
            <a:custGeom>
              <a:avLst/>
              <a:gdLst>
                <a:gd name="connsiteX0" fmla="*/ 0 w 1774370"/>
                <a:gd name="connsiteY0" fmla="*/ 5894371 h 5894371"/>
                <a:gd name="connsiteX1" fmla="*/ 1774370 w 1774370"/>
                <a:gd name="connsiteY1" fmla="*/ 5894371 h 5894371"/>
                <a:gd name="connsiteX2" fmla="*/ 0 w 1774370"/>
                <a:gd name="connsiteY2" fmla="*/ 0 h 5894371"/>
              </a:gdLst>
              <a:ahLst/>
              <a:cxnLst>
                <a:cxn ang="0">
                  <a:pos x="connsiteX0" y="connsiteY0"/>
                </a:cxn>
                <a:cxn ang="0">
                  <a:pos x="connsiteX1" y="connsiteY1"/>
                </a:cxn>
                <a:cxn ang="0">
                  <a:pos x="connsiteX2" y="connsiteY2"/>
                </a:cxn>
              </a:cxnLst>
              <a:rect l="l" t="t" r="r" b="b"/>
              <a:pathLst>
                <a:path w="1774370" h="5894371">
                  <a:moveTo>
                    <a:pt x="0" y="5894371"/>
                  </a:moveTo>
                  <a:lnTo>
                    <a:pt x="1774370" y="5894371"/>
                  </a:lnTo>
                  <a:lnTo>
                    <a:pt x="0" y="0"/>
                  </a:lnTo>
                  <a:close/>
                </a:path>
              </a:pathLst>
            </a:custGeom>
            <a:solidFill>
              <a:srgbClr val="96DCF8">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0" name="Free-form: Shape 19">
              <a:extLst>
                <a:ext uri="{FF2B5EF4-FFF2-40B4-BE49-F238E27FC236}">
                  <a16:creationId xmlns:a16="http://schemas.microsoft.com/office/drawing/2014/main" id="{E4FBE389-6A23-C320-7A4A-3C65BC9B174C}"/>
                </a:ext>
              </a:extLst>
            </p:cNvPr>
            <p:cNvSpPr/>
            <p:nvPr/>
          </p:nvSpPr>
          <p:spPr>
            <a:xfrm flipV="1">
              <a:off x="0" y="0"/>
              <a:ext cx="1066799" cy="6857999"/>
            </a:xfrm>
            <a:custGeom>
              <a:avLst/>
              <a:gdLst>
                <a:gd name="connsiteX0" fmla="*/ 0 w 1066799"/>
                <a:gd name="connsiteY0" fmla="*/ 6857999 h 6857999"/>
                <a:gd name="connsiteX1" fmla="*/ 1066799 w 1066799"/>
                <a:gd name="connsiteY1" fmla="*/ 6857999 h 6857999"/>
                <a:gd name="connsiteX2" fmla="*/ 70597 w 1066799"/>
                <a:gd name="connsiteY2" fmla="*/ 0 h 6857999"/>
                <a:gd name="connsiteX3" fmla="*/ 0 w 1066799"/>
                <a:gd name="connsiteY3" fmla="*/ 0 h 6857999"/>
              </a:gdLst>
              <a:ahLst/>
              <a:cxnLst>
                <a:cxn ang="0">
                  <a:pos x="connsiteX0" y="connsiteY0"/>
                </a:cxn>
                <a:cxn ang="0">
                  <a:pos x="connsiteX1" y="connsiteY1"/>
                </a:cxn>
                <a:cxn ang="0">
                  <a:pos x="connsiteX2" y="connsiteY2"/>
                </a:cxn>
                <a:cxn ang="0">
                  <a:pos x="connsiteX3" y="connsiteY3"/>
                </a:cxn>
              </a:cxnLst>
              <a:rect l="l" t="t" r="r" b="b"/>
              <a:pathLst>
                <a:path w="1066799" h="6857999">
                  <a:moveTo>
                    <a:pt x="0" y="6857999"/>
                  </a:moveTo>
                  <a:lnTo>
                    <a:pt x="1066799" y="6857999"/>
                  </a:lnTo>
                  <a:lnTo>
                    <a:pt x="70597" y="0"/>
                  </a:lnTo>
                  <a:lnTo>
                    <a:pt x="0" y="0"/>
                  </a:lnTo>
                  <a:close/>
                </a:path>
              </a:pathLst>
            </a:custGeom>
            <a:solidFill>
              <a:srgbClr val="96DCF8">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grpSp>
      <p:sp>
        <p:nvSpPr>
          <p:cNvPr id="8" name="TextBox 7">
            <a:extLst>
              <a:ext uri="{FF2B5EF4-FFF2-40B4-BE49-F238E27FC236}">
                <a16:creationId xmlns:a16="http://schemas.microsoft.com/office/drawing/2014/main" id="{33078B61-EF4D-C1B7-43A2-88982F945EFE}"/>
              </a:ext>
            </a:extLst>
          </p:cNvPr>
          <p:cNvSpPr txBox="1"/>
          <p:nvPr/>
        </p:nvSpPr>
        <p:spPr>
          <a:xfrm>
            <a:off x="279396" y="386722"/>
            <a:ext cx="11633204" cy="827278"/>
          </a:xfrm>
          <a:prstGeom prst="rect">
            <a:avLst/>
          </a:prstGeom>
          <a:noFill/>
        </p:spPr>
        <p:txBody>
          <a:bodyPr wrap="square" rtlCol="0">
            <a:spAutoFit/>
          </a:bodyPr>
          <a:lstStyle/>
          <a:p>
            <a:pPr algn="ctr">
              <a:lnSpc>
                <a:spcPct val="150000"/>
              </a:lnSpc>
            </a:pPr>
            <a:r>
              <a:rPr lang="en-GB" sz="3600" noProof="0" dirty="0">
                <a:latin typeface="Cascadia Mono" panose="020B0609020000020004" pitchFamily="49" charset="0"/>
                <a:ea typeface="Cascadia Mono" panose="020B0609020000020004" pitchFamily="49" charset="0"/>
                <a:cs typeface="Cascadia Mono" panose="020B0609020000020004" pitchFamily="49" charset="0"/>
              </a:rPr>
              <a:t>The FIRE-HACK Project</a:t>
            </a:r>
          </a:p>
        </p:txBody>
      </p:sp>
      <p:sp>
        <p:nvSpPr>
          <p:cNvPr id="2" name="Rectangle: Rounded Corners 1">
            <a:extLst>
              <a:ext uri="{FF2B5EF4-FFF2-40B4-BE49-F238E27FC236}">
                <a16:creationId xmlns:a16="http://schemas.microsoft.com/office/drawing/2014/main" id="{9DA0B120-E42E-4F04-E8BE-A8DB43B3FEA5}"/>
              </a:ext>
            </a:extLst>
          </p:cNvPr>
          <p:cNvSpPr/>
          <p:nvPr/>
        </p:nvSpPr>
        <p:spPr>
          <a:xfrm>
            <a:off x="805538" y="1436914"/>
            <a:ext cx="10548266" cy="2699657"/>
          </a:xfrm>
          <a:prstGeom prst="roundRect">
            <a:avLst>
              <a:gd name="adj" fmla="val 9464"/>
            </a:avLst>
          </a:prstGeom>
          <a:solidFill>
            <a:schemeClr val="accent5">
              <a:lumMod val="20000"/>
              <a:lumOff val="80000"/>
            </a:schemeClr>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C2B02339-DB2D-97FC-AB6D-B775A3543D91}"/>
              </a:ext>
            </a:extLst>
          </p:cNvPr>
          <p:cNvSpPr/>
          <p:nvPr/>
        </p:nvSpPr>
        <p:spPr>
          <a:xfrm>
            <a:off x="1066800" y="1665476"/>
            <a:ext cx="10058400" cy="957943"/>
          </a:xfrm>
          <a:prstGeom prst="roundRect">
            <a:avLst/>
          </a:prstGeom>
          <a:solidFill>
            <a:srgbClr val="83BB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0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1. To create a comprehensive high-quality fire behaviour data set</a:t>
            </a:r>
          </a:p>
        </p:txBody>
      </p:sp>
      <p:sp>
        <p:nvSpPr>
          <p:cNvPr id="15" name="Rectangle: Rounded Corners 14">
            <a:extLst>
              <a:ext uri="{FF2B5EF4-FFF2-40B4-BE49-F238E27FC236}">
                <a16:creationId xmlns:a16="http://schemas.microsoft.com/office/drawing/2014/main" id="{C781E5AB-6468-CD05-6049-B457D4759CB8}"/>
              </a:ext>
            </a:extLst>
          </p:cNvPr>
          <p:cNvSpPr/>
          <p:nvPr/>
        </p:nvSpPr>
        <p:spPr>
          <a:xfrm>
            <a:off x="1066800" y="2959505"/>
            <a:ext cx="10058400" cy="957943"/>
          </a:xfrm>
          <a:prstGeom prst="roundRect">
            <a:avLst/>
          </a:prstGeom>
          <a:solidFill>
            <a:srgbClr val="83BB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0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2. To characterize the relations between the environmental drivers and the fire behaviour</a:t>
            </a:r>
          </a:p>
        </p:txBody>
      </p:sp>
      <p:sp>
        <p:nvSpPr>
          <p:cNvPr id="17" name="Rectangle: Rounded Corners 16">
            <a:extLst>
              <a:ext uri="{FF2B5EF4-FFF2-40B4-BE49-F238E27FC236}">
                <a16:creationId xmlns:a16="http://schemas.microsoft.com/office/drawing/2014/main" id="{F4CE945B-161D-8B29-2E66-9D09F4C9BB49}"/>
              </a:ext>
            </a:extLst>
          </p:cNvPr>
          <p:cNvSpPr/>
          <p:nvPr/>
        </p:nvSpPr>
        <p:spPr>
          <a:xfrm>
            <a:off x="1066800" y="4253534"/>
            <a:ext cx="10058400" cy="957943"/>
          </a:xfrm>
          <a:prstGeom prst="roundRect">
            <a:avLst/>
          </a:prstGeom>
          <a:solidFill>
            <a:srgbClr val="83BB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0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3. To define the how the fire behaviour relates to their impacts, namely fire suppression effectiveness and burn severity</a:t>
            </a:r>
          </a:p>
        </p:txBody>
      </p:sp>
      <p:sp>
        <p:nvSpPr>
          <p:cNvPr id="19" name="Rectangle: Rounded Corners 18">
            <a:extLst>
              <a:ext uri="{FF2B5EF4-FFF2-40B4-BE49-F238E27FC236}">
                <a16:creationId xmlns:a16="http://schemas.microsoft.com/office/drawing/2014/main" id="{B763BF87-CD8C-1D2B-97AA-90D5B7B8D04A}"/>
              </a:ext>
            </a:extLst>
          </p:cNvPr>
          <p:cNvSpPr/>
          <p:nvPr/>
        </p:nvSpPr>
        <p:spPr>
          <a:xfrm>
            <a:off x="1066800" y="5547564"/>
            <a:ext cx="10058400" cy="957943"/>
          </a:xfrm>
          <a:prstGeom prst="roundRect">
            <a:avLst/>
          </a:prstGeom>
          <a:solidFill>
            <a:srgbClr val="83BB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0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4. To effectively disseminate this new-found knowledge</a:t>
            </a:r>
          </a:p>
        </p:txBody>
      </p:sp>
    </p:spTree>
    <p:extLst>
      <p:ext uri="{BB962C8B-B14F-4D97-AF65-F5344CB8AC3E}">
        <p14:creationId xmlns:p14="http://schemas.microsoft.com/office/powerpoint/2010/main" val="141959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E513404-6691-A36B-828E-2268D5A745B7}"/>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A999D740-0661-19DE-CBE5-59D122C5A4E2}"/>
              </a:ext>
            </a:extLst>
          </p:cNvPr>
          <p:cNvGrpSpPr/>
          <p:nvPr/>
        </p:nvGrpSpPr>
        <p:grpSpPr>
          <a:xfrm>
            <a:off x="0" y="0"/>
            <a:ext cx="1774370" cy="6857999"/>
            <a:chOff x="0" y="0"/>
            <a:chExt cx="1774370" cy="6857999"/>
          </a:xfrm>
        </p:grpSpPr>
        <p:sp>
          <p:nvSpPr>
            <p:cNvPr id="18" name="Free-form: Shape 17">
              <a:extLst>
                <a:ext uri="{FF2B5EF4-FFF2-40B4-BE49-F238E27FC236}">
                  <a16:creationId xmlns:a16="http://schemas.microsoft.com/office/drawing/2014/main" id="{6AEDB653-A83E-BB12-F371-A0EEB5D72811}"/>
                </a:ext>
              </a:extLst>
            </p:cNvPr>
            <p:cNvSpPr/>
            <p:nvPr/>
          </p:nvSpPr>
          <p:spPr>
            <a:xfrm flipV="1">
              <a:off x="0" y="0"/>
              <a:ext cx="1774370" cy="5894371"/>
            </a:xfrm>
            <a:custGeom>
              <a:avLst/>
              <a:gdLst>
                <a:gd name="connsiteX0" fmla="*/ 0 w 1774370"/>
                <a:gd name="connsiteY0" fmla="*/ 5894371 h 5894371"/>
                <a:gd name="connsiteX1" fmla="*/ 1774370 w 1774370"/>
                <a:gd name="connsiteY1" fmla="*/ 5894371 h 5894371"/>
                <a:gd name="connsiteX2" fmla="*/ 0 w 1774370"/>
                <a:gd name="connsiteY2" fmla="*/ 0 h 5894371"/>
              </a:gdLst>
              <a:ahLst/>
              <a:cxnLst>
                <a:cxn ang="0">
                  <a:pos x="connsiteX0" y="connsiteY0"/>
                </a:cxn>
                <a:cxn ang="0">
                  <a:pos x="connsiteX1" y="connsiteY1"/>
                </a:cxn>
                <a:cxn ang="0">
                  <a:pos x="connsiteX2" y="connsiteY2"/>
                </a:cxn>
              </a:cxnLst>
              <a:rect l="l" t="t" r="r" b="b"/>
              <a:pathLst>
                <a:path w="1774370" h="5894371">
                  <a:moveTo>
                    <a:pt x="0" y="5894371"/>
                  </a:moveTo>
                  <a:lnTo>
                    <a:pt x="1774370" y="5894371"/>
                  </a:lnTo>
                  <a:lnTo>
                    <a:pt x="0" y="0"/>
                  </a:lnTo>
                  <a:close/>
                </a:path>
              </a:pathLst>
            </a:custGeom>
            <a:solidFill>
              <a:srgbClr val="96DCF8">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0" name="Free-form: Shape 19">
              <a:extLst>
                <a:ext uri="{FF2B5EF4-FFF2-40B4-BE49-F238E27FC236}">
                  <a16:creationId xmlns:a16="http://schemas.microsoft.com/office/drawing/2014/main" id="{CE640F76-5E81-0E99-30EF-035B47A19E2B}"/>
                </a:ext>
              </a:extLst>
            </p:cNvPr>
            <p:cNvSpPr/>
            <p:nvPr/>
          </p:nvSpPr>
          <p:spPr>
            <a:xfrm flipV="1">
              <a:off x="0" y="0"/>
              <a:ext cx="1066799" cy="6857999"/>
            </a:xfrm>
            <a:custGeom>
              <a:avLst/>
              <a:gdLst>
                <a:gd name="connsiteX0" fmla="*/ 0 w 1066799"/>
                <a:gd name="connsiteY0" fmla="*/ 6857999 h 6857999"/>
                <a:gd name="connsiteX1" fmla="*/ 1066799 w 1066799"/>
                <a:gd name="connsiteY1" fmla="*/ 6857999 h 6857999"/>
                <a:gd name="connsiteX2" fmla="*/ 70597 w 1066799"/>
                <a:gd name="connsiteY2" fmla="*/ 0 h 6857999"/>
                <a:gd name="connsiteX3" fmla="*/ 0 w 1066799"/>
                <a:gd name="connsiteY3" fmla="*/ 0 h 6857999"/>
              </a:gdLst>
              <a:ahLst/>
              <a:cxnLst>
                <a:cxn ang="0">
                  <a:pos x="connsiteX0" y="connsiteY0"/>
                </a:cxn>
                <a:cxn ang="0">
                  <a:pos x="connsiteX1" y="connsiteY1"/>
                </a:cxn>
                <a:cxn ang="0">
                  <a:pos x="connsiteX2" y="connsiteY2"/>
                </a:cxn>
                <a:cxn ang="0">
                  <a:pos x="connsiteX3" y="connsiteY3"/>
                </a:cxn>
              </a:cxnLst>
              <a:rect l="l" t="t" r="r" b="b"/>
              <a:pathLst>
                <a:path w="1066799" h="6857999">
                  <a:moveTo>
                    <a:pt x="0" y="6857999"/>
                  </a:moveTo>
                  <a:lnTo>
                    <a:pt x="1066799" y="6857999"/>
                  </a:lnTo>
                  <a:lnTo>
                    <a:pt x="70597" y="0"/>
                  </a:lnTo>
                  <a:lnTo>
                    <a:pt x="0" y="0"/>
                  </a:lnTo>
                  <a:close/>
                </a:path>
              </a:pathLst>
            </a:custGeom>
            <a:solidFill>
              <a:srgbClr val="96DCF8">
                <a:alpha val="5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grpSp>
      <p:sp>
        <p:nvSpPr>
          <p:cNvPr id="24" name="Rectangle: Rounded Corners 23">
            <a:extLst>
              <a:ext uri="{FF2B5EF4-FFF2-40B4-BE49-F238E27FC236}">
                <a16:creationId xmlns:a16="http://schemas.microsoft.com/office/drawing/2014/main" id="{82B52214-2ADB-269F-1C16-E5438FEC473A}"/>
              </a:ext>
            </a:extLst>
          </p:cNvPr>
          <p:cNvSpPr/>
          <p:nvPr/>
        </p:nvSpPr>
        <p:spPr>
          <a:xfrm>
            <a:off x="805538" y="1527270"/>
            <a:ext cx="10548266" cy="2569028"/>
          </a:xfrm>
          <a:prstGeom prst="roundRect">
            <a:avLst>
              <a:gd name="adj" fmla="val 9464"/>
            </a:avLst>
          </a:prstGeom>
          <a:solidFill>
            <a:schemeClr val="accent5">
              <a:lumMod val="20000"/>
              <a:lumOff val="80000"/>
            </a:schemeClr>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258E0ECB-4570-5742-1B21-3D50D1124C34}"/>
              </a:ext>
            </a:extLst>
          </p:cNvPr>
          <p:cNvSpPr txBox="1"/>
          <p:nvPr/>
        </p:nvSpPr>
        <p:spPr>
          <a:xfrm>
            <a:off x="279396" y="386722"/>
            <a:ext cx="11633204" cy="827278"/>
          </a:xfrm>
          <a:prstGeom prst="rect">
            <a:avLst/>
          </a:prstGeom>
          <a:noFill/>
        </p:spPr>
        <p:txBody>
          <a:bodyPr wrap="square" rtlCol="0">
            <a:spAutoFit/>
          </a:bodyPr>
          <a:lstStyle/>
          <a:p>
            <a:pPr algn="ctr">
              <a:lnSpc>
                <a:spcPct val="150000"/>
              </a:lnSpc>
            </a:pPr>
            <a:r>
              <a:rPr lang="en-GB" sz="3600" noProof="0" dirty="0">
                <a:latin typeface="Cascadia Mono" panose="020B0609020000020004" pitchFamily="49" charset="0"/>
                <a:ea typeface="Cascadia Mono" panose="020B0609020000020004" pitchFamily="49" charset="0"/>
                <a:cs typeface="Cascadia Mono" panose="020B0609020000020004" pitchFamily="49" charset="0"/>
              </a:rPr>
              <a:t>The FIRE-HACK Project</a:t>
            </a:r>
          </a:p>
        </p:txBody>
      </p:sp>
      <p:sp>
        <p:nvSpPr>
          <p:cNvPr id="13" name="Rectangle: Rounded Corners 12">
            <a:extLst>
              <a:ext uri="{FF2B5EF4-FFF2-40B4-BE49-F238E27FC236}">
                <a16:creationId xmlns:a16="http://schemas.microsoft.com/office/drawing/2014/main" id="{A758E419-5226-F084-68D1-B20A22E7E1EF}"/>
              </a:ext>
            </a:extLst>
          </p:cNvPr>
          <p:cNvSpPr/>
          <p:nvPr/>
        </p:nvSpPr>
        <p:spPr>
          <a:xfrm>
            <a:off x="1066800" y="1785222"/>
            <a:ext cx="10058400" cy="957943"/>
          </a:xfrm>
          <a:prstGeom prst="roundRect">
            <a:avLst/>
          </a:prstGeom>
          <a:solidFill>
            <a:srgbClr val="83BB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0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1. To create a comprehensive high-quality fire behaviour data set</a:t>
            </a:r>
          </a:p>
        </p:txBody>
      </p:sp>
      <p:sp>
        <p:nvSpPr>
          <p:cNvPr id="15" name="Rectangle: Rounded Corners 14">
            <a:extLst>
              <a:ext uri="{FF2B5EF4-FFF2-40B4-BE49-F238E27FC236}">
                <a16:creationId xmlns:a16="http://schemas.microsoft.com/office/drawing/2014/main" id="{046EC019-7FDB-100E-625B-E7EE7F597C39}"/>
              </a:ext>
            </a:extLst>
          </p:cNvPr>
          <p:cNvSpPr/>
          <p:nvPr/>
        </p:nvSpPr>
        <p:spPr>
          <a:xfrm>
            <a:off x="1066800" y="2879675"/>
            <a:ext cx="10058400" cy="957943"/>
          </a:xfrm>
          <a:prstGeom prst="roundRect">
            <a:avLst/>
          </a:prstGeom>
          <a:solidFill>
            <a:srgbClr val="83BB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0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2. To characterize the relations between the environmental drivers and the fire behaviour</a:t>
            </a:r>
          </a:p>
        </p:txBody>
      </p:sp>
      <p:sp>
        <p:nvSpPr>
          <p:cNvPr id="17" name="Rectangle: Rounded Corners 16">
            <a:extLst>
              <a:ext uri="{FF2B5EF4-FFF2-40B4-BE49-F238E27FC236}">
                <a16:creationId xmlns:a16="http://schemas.microsoft.com/office/drawing/2014/main" id="{5C09C79B-7E56-8359-306B-67D93FDAA7B6}"/>
              </a:ext>
            </a:extLst>
          </p:cNvPr>
          <p:cNvSpPr/>
          <p:nvPr/>
        </p:nvSpPr>
        <p:spPr>
          <a:xfrm>
            <a:off x="1066800" y="4333366"/>
            <a:ext cx="10058400" cy="957943"/>
          </a:xfrm>
          <a:prstGeom prst="roundRect">
            <a:avLst/>
          </a:prstGeom>
          <a:solidFill>
            <a:srgbClr val="83BB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0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3. To define the how the fire behaviour relates to their impacts, namely fire suppression effectiveness and burn severity</a:t>
            </a:r>
          </a:p>
        </p:txBody>
      </p:sp>
      <p:sp>
        <p:nvSpPr>
          <p:cNvPr id="19" name="Rectangle: Rounded Corners 18">
            <a:extLst>
              <a:ext uri="{FF2B5EF4-FFF2-40B4-BE49-F238E27FC236}">
                <a16:creationId xmlns:a16="http://schemas.microsoft.com/office/drawing/2014/main" id="{1430F47F-3FA8-A921-8B25-E5DDF6C3CA15}"/>
              </a:ext>
            </a:extLst>
          </p:cNvPr>
          <p:cNvSpPr/>
          <p:nvPr/>
        </p:nvSpPr>
        <p:spPr>
          <a:xfrm>
            <a:off x="1066800" y="5547564"/>
            <a:ext cx="10058400" cy="957943"/>
          </a:xfrm>
          <a:prstGeom prst="roundRect">
            <a:avLst/>
          </a:prstGeom>
          <a:solidFill>
            <a:srgbClr val="83BB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0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4. To effectively disseminate this new-found knowledge</a:t>
            </a:r>
          </a:p>
        </p:txBody>
      </p:sp>
    </p:spTree>
    <p:extLst>
      <p:ext uri="{BB962C8B-B14F-4D97-AF65-F5344CB8AC3E}">
        <p14:creationId xmlns:p14="http://schemas.microsoft.com/office/powerpoint/2010/main" val="32798644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407</TotalTime>
  <Words>277</Words>
  <Application>Microsoft Office PowerPoint</Application>
  <PresentationFormat>Widescreen</PresentationFormat>
  <Paragraphs>24</Paragraphs>
  <Slides>5</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vt:lpstr>
      <vt:lpstr>Aptos Display</vt:lpstr>
      <vt:lpstr>Arial</vt:lpstr>
      <vt:lpstr>Cascadia Code Light</vt:lpstr>
      <vt:lpstr>Cascadia Mono</vt:lpstr>
      <vt:lpstr>Cascadia Mono Light</vt:lpstr>
      <vt:lpstr>Office Theme</vt:lpstr>
      <vt:lpstr>Hackathon 2025/2026 - Weekly Report   Week 1</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Oliveira</dc:creator>
  <cp:lastModifiedBy>Rafael Oliveira</cp:lastModifiedBy>
  <cp:revision>2</cp:revision>
  <dcterms:created xsi:type="dcterms:W3CDTF">2025-09-30T09:50:15Z</dcterms:created>
  <dcterms:modified xsi:type="dcterms:W3CDTF">2025-09-30T17:37:47Z</dcterms:modified>
</cp:coreProperties>
</file>